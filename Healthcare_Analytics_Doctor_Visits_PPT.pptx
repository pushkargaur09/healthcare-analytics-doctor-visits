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23"/>
    <p:sldId id="341" r:id="rId24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openxmlformats.org/officeDocument/2006/relationships/slide" Target="slides/slide7.xml"/><Relationship Id="rId24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12/29/2023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hyperlink" Target="https://github.com/pushkargaur09/healthcare-analytics-doctor-visits.git" TargetMode="External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4960" y="4206240"/>
            <a:ext cx="4297680" cy="1005840"/>
          </a:xfrm>
        </p:spPr>
        <p:txBody>
          <a:bodyPr wrap="square"/>
          <a:lstStyle/>
          <a:p>
            <a:pPr algn="l"/>
            <a:r>
              <a:rPr sz="2000" b="1">
                <a:solidFill>
                  <a:srgbClr val="1F1F1F"/>
                </a:solidFill>
              </a:rPr>
              <a:t>Pushkar Gaur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F1F1F"/>
                </a:solidFill>
              </a:rPr>
              <a:t>AICTE ID: STU6a5f4088577f51784627336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0" y="2697480"/>
            <a:ext cx="4297680" cy="1371600"/>
          </a:xfrm>
        </p:spPr>
        <p:txBody>
          <a:bodyPr wrap="square">
            <a:normAutofit/>
          </a:bodyPr>
          <a:lstStyle/>
          <a:p>
            <a:pPr algn="l"/>
            <a:r>
              <a:rPr lang="en-GB" sz="2800" dirty="0" smtClean="0" b="1"/>
              <a:t>Healthcare Analytics for Doctor Visits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8952" y="1737360"/>
            <a:ext cx="5852160" cy="4206240"/>
          </a:xfrm>
        </p:spPr>
        <p:txBody>
          <a:bodyPr wrap="square"/>
          <a:lstStyle/>
          <a:p>
            <a:pPr algn="l" marL="256032" indent="-256032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Clr>
                <a:srgbClr val="1F6FA8"/>
              </a:buClr>
              <a:buFont typeface="Arial"/>
              <a:buChar char="•"/>
            </a:pPr>
            <a:r>
              <a:rPr b="1" sz="1800">
                <a:solidFill>
                  <a:srgbClr val="1F1F1F"/>
                </a:solidFill>
              </a:rPr>
              <a:t>The question: </a:t>
            </a:r>
            <a:r>
              <a:rPr sz="1800" b="0">
                <a:solidFill>
                  <a:srgbClr val="1F1F1F"/>
                </a:solidFill>
              </a:rPr>
              <a:t>Why do some people visit a doctor far more often than others?</a:t>
            </a:r>
            <a:endParaRPr lang="en-IN" sz="2800" dirty="0"/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lr>
                <a:srgbClr val="1F6FA8"/>
              </a:buClr>
              <a:buFont typeface="Arial"/>
              <a:buChar char="•"/>
            </a:pPr>
            <a:r>
              <a:rPr b="1" sz="1800">
                <a:solidFill>
                  <a:srgbClr val="1F1F1F"/>
                </a:solidFill>
              </a:rPr>
              <a:t>The challenge: </a:t>
            </a:r>
            <a:r>
              <a:rPr sz="1800" b="0">
                <a:solidFill>
                  <a:srgbClr val="1F1F1F"/>
                </a:solidFill>
              </a:rPr>
              <a:t>About 80% of people have no visit at all, while a small group has many, so demand is hard to predict.</a:t>
            </a:r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lr>
                <a:srgbClr val="1F6FA8"/>
              </a:buClr>
              <a:buFont typeface="Arial"/>
              <a:buChar char="•"/>
            </a:pPr>
            <a:r>
              <a:rPr b="1" sz="1800">
                <a:solidFill>
                  <a:srgbClr val="1F1F1F"/>
                </a:solidFill>
              </a:rPr>
              <a:t>The goal: </a:t>
            </a:r>
            <a:r>
              <a:rPr sz="1800" b="0">
                <a:solidFill>
                  <a:srgbClr val="1F1F1F"/>
                </a:solidFill>
              </a:rPr>
              <a:t>Find which factors (age, gender, income, illness, chronic conditions, healthcare support) drive doctor visits and predict who is likely to need more care.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Description"/>
          <p:cNvSpPr txBox="1"/>
          <p:nvPr/>
        </p:nvSpPr>
        <p:spPr>
          <a:xfrm>
            <a:off x="658368" y="178308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600">
                <a:solidFill>
                  <a:srgbClr val="1F1F1F"/>
                </a:solidFill>
              </a:rPr>
              <a:t>Data: </a:t>
            </a:r>
            <a:r>
              <a:rPr sz="1600" b="0">
                <a:solidFill>
                  <a:srgbClr val="1F1F1F"/>
                </a:solidFill>
              </a:rPr>
              <a:t>5,190 patient records with 12 features covering age, gender, income, illness, health status, chronic conditions and healthcare cover.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600">
                <a:solidFill>
                  <a:srgbClr val="1F1F1F"/>
                </a:solidFill>
              </a:rPr>
              <a:t>Method: </a:t>
            </a:r>
            <a:r>
              <a:rPr sz="1600" b="0">
                <a:solidFill>
                  <a:srgbClr val="1F1F1F"/>
                </a:solidFill>
              </a:rPr>
              <a:t>data cleaning, exploratory analysis, Mann-Whitney U tests, Poisson regression and Random Forest models.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600">
                <a:solidFill>
                  <a:srgbClr val="1F1F1F"/>
                </a:solidFill>
              </a:rPr>
              <a:t>Predictions: </a:t>
            </a:r>
            <a:r>
              <a:rPr sz="1600" b="0">
                <a:solidFill>
                  <a:srgbClr val="1F1F1F"/>
                </a:solidFill>
              </a:rPr>
              <a:t>number of doctor visits, and whether a person visits a doctor at all.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600">
                <a:solidFill>
                  <a:srgbClr val="1F1F1F"/>
                </a:solidFill>
              </a:rPr>
              <a:t>Risk score: </a:t>
            </a:r>
            <a:r>
              <a:rPr sz="1600" b="0">
                <a:solidFill>
                  <a:srgbClr val="1F1F1F"/>
                </a:solidFill>
              </a:rPr>
              <a:t>a simple 3-level patient risk segmentation (low, medium, high).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1920240"/>
            <a:ext cx="7315200" cy="4023360"/>
          </a:xfrm>
        </p:spPr>
        <p:txBody>
          <a:bodyPr wrap="square">
            <a:normAutofit/>
          </a:bodyPr>
          <a:lstStyle/>
          <a:p>
            <a:pPr algn="l" marL="256032" indent="-256032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Hospital and clinic managers: </a:t>
            </a:r>
            <a:r>
              <a:rPr sz="1700" b="0">
                <a:solidFill>
                  <a:srgbClr val="1F1F1F"/>
                </a:solidFill>
              </a:rPr>
              <a:t>plan doctor capacity and appointment demand</a:t>
            </a:r>
            <a:endParaRPr lang="en-IN" sz="3600" dirty="0"/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Health insurers: </a:t>
            </a:r>
            <a:r>
              <a:rPr sz="1700" b="0">
                <a:solidFill>
                  <a:srgbClr val="1F1F1F"/>
                </a:solidFill>
              </a:rPr>
              <a:t>identify members likely to need more care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Policy makers: </a:t>
            </a:r>
            <a:r>
              <a:rPr sz="1700" b="0">
                <a:solidFill>
                  <a:srgbClr val="1F1F1F"/>
                </a:solidFill>
              </a:rPr>
              <a:t>understand how free-cover schemes and insurance relate to visits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Care and outreach teams: </a:t>
            </a:r>
            <a:r>
              <a:rPr sz="1700" b="0">
                <a:solidFill>
                  <a:srgbClr val="1F1F1F"/>
                </a:solidFill>
              </a:rPr>
              <a:t>target older patients and those with many illnesses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Students and analysts: </a:t>
            </a:r>
            <a:r>
              <a:rPr sz="1700" b="0">
                <a:solidFill>
                  <a:srgbClr val="1F1F1F"/>
                </a:solidFill>
              </a:rPr>
              <a:t>a practical healthcare analytics case study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3120" y="1554480"/>
            <a:ext cx="5760720" cy="4572000"/>
          </a:xfrm>
        </p:spPr>
        <p:txBody>
          <a:bodyPr wrap="square"/>
          <a:lstStyle/>
          <a:p>
            <a:pPr lvl="1" algn="l" marL="256032" indent="-256032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Python: </a:t>
            </a:r>
            <a:r>
              <a:rPr sz="1700" b="0">
                <a:solidFill>
                  <a:srgbClr val="1F1F1F"/>
                </a:solidFill>
              </a:rPr>
              <a:t>pandas and NumPy for cleaning and analysis</a:t>
            </a:r>
            <a:endParaRPr lang="en-IN" dirty="0"/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Matplotlib and Seaborn: </a:t>
            </a:r>
            <a:r>
              <a:rPr sz="1700" b="0">
                <a:solidFill>
                  <a:srgbClr val="1F1F1F"/>
                </a:solidFill>
              </a:rPr>
              <a:t>charts and visualisation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SciPy: </a:t>
            </a:r>
            <a:r>
              <a:rPr sz="1700" b="0">
                <a:solidFill>
                  <a:srgbClr val="1F1F1F"/>
                </a:solidFill>
              </a:rPr>
              <a:t>Mann-Whitney U statistical tests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statsmodels: </a:t>
            </a:r>
            <a:r>
              <a:rPr sz="1700" b="0">
                <a:solidFill>
                  <a:srgbClr val="1F1F1F"/>
                </a:solidFill>
              </a:rPr>
              <a:t>Poisson regression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scikit-learn: </a:t>
            </a:r>
            <a:r>
              <a:rPr sz="1700" b="0">
                <a:solidFill>
                  <a:srgbClr val="1F1F1F"/>
                </a:solidFill>
              </a:rPr>
              <a:t>Random Forest and Logistic Regression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b="1" sz="1700">
                <a:solidFill>
                  <a:srgbClr val="1F1F1F"/>
                </a:solidFill>
              </a:rPr>
              <a:t>Jupyter Notebook and GitHub: </a:t>
            </a:r>
            <a:r>
              <a:rPr sz="1700" b="0">
                <a:solidFill>
                  <a:srgbClr val="1F1F1F"/>
                </a:solidFill>
              </a:rPr>
              <a:t>development and hosting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374904"/>
            <a:ext cx="7132320" cy="832104"/>
          </a:xfrm>
        </p:spPr>
        <p:txBody>
          <a:bodyPr>
            <a:normAutofit/>
          </a:bodyPr>
          <a:lstStyle/>
          <a:p>
            <a:r>
              <a:rPr lang="en-GB" dirty="0"/>
              <a:t>RESULTS: KEY FINDINGS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6656" y="1325880"/>
            <a:ext cx="5943600" cy="2148840"/>
          </a:xfrm>
        </p:spPr>
        <p:txBody>
          <a:bodyPr wrap="square"/>
          <a:lstStyle/>
          <a:p>
            <a:pPr marL="256032" indent="-256032" algn="l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79.8% of people had no doctor visit (average 0.30 visits)</a:t>
            </a:r>
            <a:endParaRPr lang="en-IN" dirty="0"/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Women visit more than men (0.36 vs 0.24)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Visits rise with age, from 0.21 (20 or under) to 0.48 (over 70)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Private insurance has no real effect (p = 0.76); free low-income cover is linked to fewer visits</a:t>
            </a:r>
          </a:p>
        </p:txBody>
      </p:sp>
      <p:pic>
        <p:nvPicPr>
          <p:cNvPr id="11" name="Picture 10" descr="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520440"/>
            <a:ext cx="3474720" cy="2509520"/>
          </a:xfrm>
          <a:prstGeom prst="rect">
            <a:avLst/>
          </a:prstGeom>
        </p:spPr>
      </p:pic>
      <p:pic>
        <p:nvPicPr>
          <p:cNvPr id="12" name="Picture 11" descr="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3520440"/>
            <a:ext cx="3474720" cy="250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56" y="374904"/>
            <a:ext cx="7132320" cy="832104"/>
          </a:xfrm>
        </p:spPr>
        <p:txBody>
          <a:bodyPr>
            <a:normAutofit/>
          </a:bodyPr>
          <a:lstStyle/>
          <a:p>
            <a:r>
              <a:rPr lang="en-GB" dirty="0"/>
              <a:t>RESULTS: MODELS AND RISK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6656" y="1325880"/>
            <a:ext cx="5943600" cy="2148840"/>
          </a:xfrm>
        </p:spPr>
        <p:txBody>
          <a:bodyPr wrap="square"/>
          <a:lstStyle/>
          <a:p>
            <a:pPr marL="256032" indent="-256032" algn="l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Days of reduced activity and number of illnesses are the strongest drivers</a:t>
            </a:r>
            <a:endParaRPr lang="en-IN" dirty="0"/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Random Forest error 0.41 vs 0.52 for the baseline; ROC-AUC 0.74 for visit or no visit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Each extra illness raises expected visits by about 20%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lr>
                <a:srgbClr val="1F6FA8"/>
              </a:buClr>
              <a:buFont typeface="Arial"/>
              <a:buChar char="•"/>
            </a:pPr>
            <a:r>
              <a:rPr sz="1500" b="0">
                <a:solidFill>
                  <a:srgbClr val="1F1F1F"/>
                </a:solidFill>
              </a:rPr>
              <a:t>High-risk patients average 0.69 visits, about 7x the low-risk group (0.10)</a:t>
            </a:r>
          </a:p>
        </p:txBody>
      </p:sp>
      <p:pic>
        <p:nvPicPr>
          <p:cNvPr id="11" name="Picture 10" descr="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520440"/>
            <a:ext cx="3474720" cy="2509520"/>
          </a:xfrm>
          <a:prstGeom prst="rect">
            <a:avLst/>
          </a:prstGeom>
        </p:spPr>
      </p:pic>
      <p:pic>
        <p:nvPicPr>
          <p:cNvPr id="12" name="Picture 11" descr="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3520440"/>
            <a:ext cx="3474720" cy="250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2376" y="2011680"/>
            <a:ext cx="5120640" cy="3840480"/>
          </a:xfrm>
        </p:spPr>
        <p:txBody>
          <a:bodyPr wrap="square">
            <a:normAutofit/>
          </a:bodyPr>
          <a:lstStyle/>
          <a:p>
            <a:pPr algn="l" marL="256032" indent="-256032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sz="1700" b="0">
                <a:solidFill>
                  <a:srgbClr val="1F1F1F"/>
                </a:solidFill>
              </a:rPr>
              <a:t>Complete project code and analysis notebook</a:t>
            </a:r>
            <a:endParaRPr lang="en-IN" sz="3600" dirty="0"/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sz="1700" b="0">
                <a:solidFill>
                  <a:srgbClr val="1F1F1F"/>
                </a:solidFill>
              </a:rPr>
              <a:t>Dataset used in the project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lr>
                <a:srgbClr val="1F6FA8"/>
              </a:buClr>
              <a:buFont typeface="Arial"/>
              <a:buChar char="•"/>
            </a:pPr>
            <a:r>
              <a:rPr sz="1700" b="0">
                <a:solidFill>
                  <a:srgbClr val="1F1F1F"/>
                </a:solidFill>
              </a:rPr>
              <a:t>Charts, model results and written findings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GITHUB REPOSITORY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7" name="Link"/>
          <p:cNvSpPr txBox="1"/>
          <p:nvPr/>
        </p:nvSpPr>
        <p:spPr>
          <a:xfrm>
            <a:off x="722376" y="4663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u="sng">
                <a:hlinkClick r:id="rId3"/>
              </a:rPr>
              <a:t>https://github.com/pushkargaur09/healthcare-analytics-doctor-visits.git</a:t>
            </a:r>
          </a:p>
        </p:txBody>
      </p:sp>
      <p:pic>
        <p:nvPicPr>
          <p:cNvPr id="8" name="Picture 7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77440"/>
            <a:ext cx="1920240" cy="1920240"/>
          </a:xfrm>
          <a:prstGeom prst="rect">
            <a:avLst/>
          </a:prstGeom>
        </p:spPr>
      </p:pic>
      <p:sp>
        <p:nvSpPr>
          <p:cNvPr id="9" name="QR caption"/>
          <p:cNvSpPr txBox="1"/>
          <p:nvPr/>
        </p:nvSpPr>
        <p:spPr>
          <a:xfrm>
            <a:off x="5852160" y="4297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F1F1F"/>
                </a:solidFill>
              </a:rPr>
              <a:t>Scan to open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/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Closing"/>
          <p:cNvSpPr txBox="1"/>
          <p:nvPr/>
        </p:nvSpPr>
        <p:spPr>
          <a:xfrm>
            <a:off x="2743200" y="14630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1F1F"/>
                </a:solidFill>
              </a:rPr>
              <a:t>Pushkar Gaur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0B5394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B539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B539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73</cp:revision>
  <dcterms:created xsi:type="dcterms:W3CDTF">2021-07-11T13:13:15Z</dcterms:created>
  <dcterms:modified xsi:type="dcterms:W3CDTF">2023-12-29T05:01:43Z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